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5" r:id="rId11"/>
    <p:sldId id="272" r:id="rId12"/>
    <p:sldId id="273" r:id="rId13"/>
    <p:sldId id="274" r:id="rId14"/>
    <p:sldId id="266" r:id="rId15"/>
    <p:sldId id="267" r:id="rId16"/>
    <p:sldId id="268" r:id="rId17"/>
    <p:sldId id="275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216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AppData\Local\Packages\5319275A.WhatsAppDesktop_cv1g1gvanyjgm\LocalState\sessions\D5379D57E938BF63A760052A6C0EBEE1E62CB8A1\transfers\2026-41\Analyis%20Dataset_3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AppData\Local\Packages\5319275A.WhatsAppDesktop_cv1g1gvanyjgm\LocalState\sessions\D5379D57E938BF63A760052A6C0EBEE1E62CB8A1\transfers\2026-41\Analyis%20Dataset_3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Total Rental (cnt)</c:v>
                </c:pt>
                <c:pt idx="1">
                  <c:v>Casual</c:v>
                </c:pt>
                <c:pt idx="2">
                  <c:v>Registered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58.304000000000002</c:v>
                </c:pt>
                <c:pt idx="1">
                  <c:v>4.9210000000000003</c:v>
                </c:pt>
                <c:pt idx="2">
                  <c:v>53.383000000000003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DF-476A-8364-0BCA67C697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Median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Total Rental (cnt)</c:v>
                </c:pt>
                <c:pt idx="1">
                  <c:v>Casual</c:v>
                </c:pt>
                <c:pt idx="2">
                  <c:v>Registered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</c:v>
                </c:pt>
                <c:pt idx="1">
                  <c:v>3</c:v>
                </c:pt>
                <c:pt idx="2">
                  <c:v>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5DF-476A-8364-0BCA67C697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42968303"/>
        <c:axId val="2049130031"/>
      </c:barChart>
      <c:catAx>
        <c:axId val="214296830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9130031"/>
        <c:crosses val="autoZero"/>
        <c:auto val="1"/>
        <c:lblAlgn val="ctr"/>
        <c:lblOffset val="100"/>
        <c:noMultiLvlLbl val="0"/>
      </c:catAx>
      <c:valAx>
        <c:axId val="20491300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29683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376376064974606E-2"/>
          <c:y val="3.4307752078480025E-2"/>
          <c:w val="0.92489347334579874"/>
          <c:h val="0.87615908384303798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with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755-4D73-A7C5-55CDF96ACBF6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755-4D73-A7C5-55CDF96ACBF6}"/>
              </c:ext>
            </c:extLst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755-4D73-A7C5-55CDF96ACBF6}"/>
              </c:ext>
            </c:extLst>
          </c:dPt>
          <c:dPt>
            <c:idx val="3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755-4D73-A7C5-55CDF96ACBF6}"/>
              </c:ext>
            </c:extLst>
          </c:dPt>
          <c:dPt>
            <c:idx val="4"/>
            <c:invertIfNegative val="0"/>
            <c:bubble3D val="0"/>
            <c:spPr>
              <a:solidFill>
                <a:srgbClr val="4FA8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755-4D73-A7C5-55CDF96ACBF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755-4D73-A7C5-55CDF96ACBF6}"/>
              </c:ext>
            </c:extLst>
          </c:dPt>
          <c:cat>
            <c:strRef>
              <c:f>Sheet1!$A$2:$A$7</c:f>
              <c:strCache>
                <c:ptCount val="6"/>
                <c:pt idx="0">
                  <c:v>Registered</c:v>
                </c:pt>
                <c:pt idx="1">
                  <c:v>Casual</c:v>
                </c:pt>
                <c:pt idx="2">
                  <c:v>Tempereture</c:v>
                </c:pt>
                <c:pt idx="3">
                  <c:v>Atemp</c:v>
                </c:pt>
                <c:pt idx="4">
                  <c:v>Windspeed</c:v>
                </c:pt>
                <c:pt idx="5">
                  <c:v>Humidity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</c:v>
                </c:pt>
                <c:pt idx="1">
                  <c:v>0.46700000000000003</c:v>
                </c:pt>
                <c:pt idx="2">
                  <c:v>0.22900000000000001</c:v>
                </c:pt>
                <c:pt idx="3">
                  <c:v>0.19400000000000001</c:v>
                </c:pt>
                <c:pt idx="4">
                  <c:v>0.104</c:v>
                </c:pt>
                <c:pt idx="5">
                  <c:v>-2.5000000000000001E-2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55-4D73-A7C5-55CDF96ACB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713885984"/>
        <c:axId val="1072908176"/>
      </c:barChart>
      <c:catAx>
        <c:axId val="171388598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908176"/>
        <c:crosses val="autoZero"/>
        <c:auto val="1"/>
        <c:lblAlgn val="ctr"/>
        <c:lblOffset val="100"/>
        <c:noMultiLvlLbl val="0"/>
      </c:catAx>
      <c:valAx>
        <c:axId val="1072908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2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8859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Rentals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4D-4AEE-822B-52E4B9226488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24D-4AEE-822B-52E4B9226488}"/>
              </c:ext>
            </c:extLst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24D-4AEE-822B-52E4B9226488}"/>
              </c:ext>
            </c:extLst>
          </c:dPt>
          <c:dPt>
            <c:idx val="3"/>
            <c:invertIfNegative val="0"/>
            <c:bubble3D val="0"/>
            <c:spPr>
              <a:solidFill>
                <a:srgbClr val="ED7D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24D-4AEE-822B-52E4B922648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Season 1</c:v>
                </c:pt>
                <c:pt idx="1">
                  <c:v>Season 2</c:v>
                </c:pt>
                <c:pt idx="2">
                  <c:v>Season 3</c:v>
                </c:pt>
                <c:pt idx="3">
                  <c:v>Season 4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37373</c:v>
                </c:pt>
                <c:pt idx="1">
                  <c:v>18106</c:v>
                </c:pt>
                <c:pt idx="2">
                  <c:v>2789</c:v>
                </c:pt>
                <c:pt idx="3" formatCode="General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24D-4AEE-822B-52E4B922648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461209104"/>
        <c:axId val="1072924016"/>
      </c:barChart>
      <c:catAx>
        <c:axId val="1461209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924016"/>
        <c:crosses val="autoZero"/>
        <c:auto val="1"/>
        <c:lblAlgn val="ctr"/>
        <c:lblOffset val="100"/>
        <c:noMultiLvlLbl val="0"/>
      </c:catAx>
      <c:valAx>
        <c:axId val="1072924016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hemeClr val="tx2">
                  <a:alpha val="94000"/>
                </a:schemeClr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61209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Rentals</c:v>
                </c:pt>
              </c:strCache>
            </c:strRef>
          </c:tx>
          <c:spPr>
            <a:solidFill>
              <a:srgbClr val="4472C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D33-4AE8-90AD-CE60DE90627B}"/>
              </c:ext>
            </c:extLst>
          </c:dPt>
          <c:dPt>
            <c:idx val="1"/>
            <c:invertIfNegative val="0"/>
            <c:bubble3D val="0"/>
            <c:spPr>
              <a:solidFill>
                <a:srgbClr val="4472C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D33-4AE8-90AD-CE60DE90627B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D33-4AE8-90AD-CE60DE90627B}"/>
              </c:ext>
            </c:extLst>
          </c:dPt>
          <c:dPt>
            <c:idx val="3"/>
            <c:invertIfNegative val="0"/>
            <c:bubble3D val="0"/>
            <c:spPr>
              <a:solidFill>
                <a:srgbClr val="70AD4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D33-4AE8-90AD-CE60DE90627B}"/>
              </c:ext>
            </c:extLst>
          </c:dPt>
          <c:dPt>
            <c:idx val="4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D33-4AE8-90AD-CE60DE90627B}"/>
              </c:ext>
            </c:extLst>
          </c:dPt>
          <c:dPt>
            <c:idx val="5"/>
            <c:invertIfNegative val="0"/>
            <c:bubble3D val="0"/>
            <c:spPr>
              <a:solidFill>
                <a:srgbClr val="4FA8B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D33-4AE8-90AD-CE60DE90627B}"/>
              </c:ext>
            </c:extLst>
          </c:dPt>
          <c:dPt>
            <c:idx val="6"/>
            <c:invertIfNegative val="0"/>
            <c:bubble3D val="0"/>
            <c:spPr>
              <a:solidFill>
                <a:srgbClr val="E8892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D33-4AE8-90AD-CE60DE90627B}"/>
              </c:ext>
            </c:extLst>
          </c:dPt>
          <c:cat>
            <c:numRef>
              <c:f>Sheet1!$A$2:$A$8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Sheet1!$B$2:$B$8</c:f>
              <c:numCache>
                <c:formatCode>#,##0</c:formatCode>
                <c:ptCount val="7"/>
                <c:pt idx="0">
                  <c:v>8121</c:v>
                </c:pt>
                <c:pt idx="1">
                  <c:v>8450</c:v>
                </c:pt>
                <c:pt idx="2">
                  <c:v>8383</c:v>
                </c:pt>
                <c:pt idx="3">
                  <c:v>8049</c:v>
                </c:pt>
                <c:pt idx="4">
                  <c:v>8458</c:v>
                </c:pt>
                <c:pt idx="5">
                  <c:v>9095</c:v>
                </c:pt>
                <c:pt idx="6">
                  <c:v>7748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D33-4AE8-90AD-CE60DE906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3654848"/>
        <c:axId val="1072799216"/>
      </c:barChart>
      <c:catAx>
        <c:axId val="1543654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2799216"/>
        <c:crosses val="autoZero"/>
        <c:auto val="1"/>
        <c:lblAlgn val="ctr"/>
        <c:lblOffset val="100"/>
        <c:noMultiLvlLbl val="0"/>
      </c:catAx>
      <c:valAx>
        <c:axId val="1072799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/>
              </a:solidFill>
              <a:round/>
            </a:ln>
            <a:effectLst/>
          </c:spPr>
        </c:majorGridlines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3654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4472C4"/>
            </a:solidFill>
          </c:spPr>
          <c:dPt>
            <c:idx val="0"/>
            <c:bubble3D val="0"/>
            <c:spPr>
              <a:solidFill>
                <a:srgbClr val="4472C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A92-480B-87C3-616D54462F8F}"/>
              </c:ext>
            </c:extLst>
          </c:dPt>
          <c:dPt>
            <c:idx val="1"/>
            <c:bubble3D val="0"/>
            <c:spPr>
              <a:solidFill>
                <a:srgbClr val="C0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A92-480B-87C3-616D54462F8F}"/>
              </c:ext>
            </c:extLst>
          </c:dPt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53383</c:v>
                </c:pt>
                <c:pt idx="1">
                  <c:v>4921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92-480B-87C3-616D54462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sz="2000"/>
              <a:t>Bike Sharing</a:t>
            </a:r>
            <a:r>
              <a:rPr lang="en-US" sz="2000" baseline="0"/>
              <a:t> Demand Forecast (2026)</a:t>
            </a:r>
            <a:endParaRPr lang="en-US" sz="20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4.9642113442718946E-2"/>
          <c:y val="1.6012127625774242E-2"/>
          <c:w val="0.9377633912262584"/>
          <c:h val="0.77223346746899024"/>
        </c:manualLayout>
      </c:layout>
      <c:lineChart>
        <c:grouping val="standard"/>
        <c:varyColors val="0"/>
        <c:ser>
          <c:idx val="0"/>
          <c:order val="0"/>
          <c:tx>
            <c:strRef>
              <c:f>'Forecast Worksheet'!$B$1</c:f>
              <c:strCache>
                <c:ptCount val="1"/>
                <c:pt idx="0">
                  <c:v>Values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val>
            <c:numRef>
              <c:f>'Forecast Worksheet'!$B$2:$B$58</c:f>
              <c:numCache>
                <c:formatCode>General</c:formatCode>
                <c:ptCount val="57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EC8-4488-87FC-D16D72B935CA}"/>
            </c:ext>
          </c:extLst>
        </c:ser>
        <c:ser>
          <c:idx val="1"/>
          <c:order val="1"/>
          <c:tx>
            <c:strRef>
              <c:f>'Forecast Worksheet'!$C$1</c:f>
              <c:strCache>
                <c:ptCount val="1"/>
                <c:pt idx="0">
                  <c:v>Forecast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'Forecast Worksheet'!$A$2:$A$58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'Forecast Worksheet'!$C$2:$C$58</c:f>
              <c:numCache>
                <c:formatCode>General</c:formatCode>
                <c:ptCount val="57"/>
                <c:pt idx="44">
                  <c:v>151</c:v>
                </c:pt>
                <c:pt idx="45">
                  <c:v>1387.2167441635288</c:v>
                </c:pt>
                <c:pt idx="46">
                  <c:v>1392.5597746183603</c:v>
                </c:pt>
                <c:pt idx="47">
                  <c:v>1397.902805073192</c:v>
                </c:pt>
                <c:pt idx="48">
                  <c:v>1403.2458355280237</c:v>
                </c:pt>
                <c:pt idx="49">
                  <c:v>1408.5888659828554</c:v>
                </c:pt>
                <c:pt idx="50">
                  <c:v>1413.9318964376871</c:v>
                </c:pt>
                <c:pt idx="51">
                  <c:v>1419.2749268925186</c:v>
                </c:pt>
                <c:pt idx="52">
                  <c:v>1424.6179573473503</c:v>
                </c:pt>
                <c:pt idx="53">
                  <c:v>1429.960987802182</c:v>
                </c:pt>
                <c:pt idx="54">
                  <c:v>1435.3040182570135</c:v>
                </c:pt>
                <c:pt idx="55">
                  <c:v>1440.6470487118452</c:v>
                </c:pt>
                <c:pt idx="56">
                  <c:v>1445.9900791666769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EC8-4488-87FC-D16D72B935CA}"/>
            </c:ext>
          </c:extLst>
        </c:ser>
        <c:ser>
          <c:idx val="2"/>
          <c:order val="2"/>
          <c:tx>
            <c:strRef>
              <c:f>'Forecast Worksheet'!$D$1</c:f>
              <c:strCache>
                <c:ptCount val="1"/>
                <c:pt idx="0">
                  <c:v>Lower Confidence Bound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'Forecast Worksheet'!$A$2:$A$58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'Forecast Worksheet'!$D$2:$D$58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585.50542669163815</c:v>
                </c:pt>
                <c:pt idx="46" formatCode="0.00">
                  <c:v>586.76970401902065</c:v>
                </c:pt>
                <c:pt idx="47" formatCode="0.00">
                  <c:v>587.97397139650093</c:v>
                </c:pt>
                <c:pt idx="48" formatCode="0.00">
                  <c:v>589.11835455358994</c:v>
                </c:pt>
                <c:pt idx="49" formatCode="0.00">
                  <c:v>590.2029898038752</c:v>
                </c:pt>
                <c:pt idx="50" formatCode="0.00">
                  <c:v>591.22802367584165</c:v>
                </c:pt>
                <c:pt idx="51" formatCode="0.00">
                  <c:v>592.19361254419198</c:v>
                </c:pt>
                <c:pt idx="52" formatCode="0.00">
                  <c:v>593.09992226226586</c:v>
                </c:pt>
                <c:pt idx="53" formatCode="0.00">
                  <c:v>593.94712779612632</c:v>
                </c:pt>
                <c:pt idx="54" formatCode="0.00">
                  <c:v>594.73541286086618</c:v>
                </c:pt>
                <c:pt idx="55" formatCode="0.00">
                  <c:v>595.46496955964824</c:v>
                </c:pt>
                <c:pt idx="56" formatCode="0.00">
                  <c:v>596.13599802596889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EC8-4488-87FC-D16D72B935CA}"/>
            </c:ext>
          </c:extLst>
        </c:ser>
        <c:ser>
          <c:idx val="3"/>
          <c:order val="3"/>
          <c:tx>
            <c:strRef>
              <c:f>'Forecast Worksheet'!$E$1</c:f>
              <c:strCache>
                <c:ptCount val="1"/>
                <c:pt idx="0">
                  <c:v>Upper Confidence Bound</c:v>
                </c:pt>
              </c:strCache>
            </c:strRef>
          </c:tx>
          <c:spPr>
            <a:ln w="34925" cap="rnd">
              <a:solidFill>
                <a:schemeClr val="accent4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numRef>
              <c:f>'Forecast Worksheet'!$A$2:$A$58</c:f>
              <c:numCache>
                <c:formatCode>m/d/yyyy</c:formatCode>
                <c:ptCount val="57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  <c:pt idx="45">
                  <c:v>40589</c:v>
                </c:pt>
                <c:pt idx="46">
                  <c:v>40590</c:v>
                </c:pt>
                <c:pt idx="47">
                  <c:v>40591</c:v>
                </c:pt>
                <c:pt idx="48">
                  <c:v>40592</c:v>
                </c:pt>
                <c:pt idx="49">
                  <c:v>40593</c:v>
                </c:pt>
                <c:pt idx="50">
                  <c:v>40594</c:v>
                </c:pt>
                <c:pt idx="51">
                  <c:v>40595</c:v>
                </c:pt>
                <c:pt idx="52">
                  <c:v>40596</c:v>
                </c:pt>
                <c:pt idx="53">
                  <c:v>40597</c:v>
                </c:pt>
                <c:pt idx="54">
                  <c:v>40598</c:v>
                </c:pt>
                <c:pt idx="55">
                  <c:v>40599</c:v>
                </c:pt>
                <c:pt idx="56">
                  <c:v>40600</c:v>
                </c:pt>
              </c:numCache>
            </c:numRef>
          </c:cat>
          <c:val>
            <c:numRef>
              <c:f>'Forecast Worksheet'!$E$2:$E$58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2188.9280616354195</c:v>
                </c:pt>
                <c:pt idx="46" formatCode="0.00">
                  <c:v>2198.3498452177</c:v>
                </c:pt>
                <c:pt idx="47" formatCode="0.00">
                  <c:v>2207.831638749883</c:v>
                </c:pt>
                <c:pt idx="48" formatCode="0.00">
                  <c:v>2217.3733165024573</c:v>
                </c:pt>
                <c:pt idx="49" formatCode="0.00">
                  <c:v>2226.9747421618358</c:v>
                </c:pt>
                <c:pt idx="50" formatCode="0.00">
                  <c:v>2236.6357691995327</c:v>
                </c:pt>
                <c:pt idx="51" formatCode="0.00">
                  <c:v>2246.3562412408451</c:v>
                </c:pt>
                <c:pt idx="52" formatCode="0.00">
                  <c:v>2256.1359924324347</c:v>
                </c:pt>
                <c:pt idx="53" formatCode="0.00">
                  <c:v>2265.9748478082374</c:v>
                </c:pt>
                <c:pt idx="54" formatCode="0.00">
                  <c:v>2275.8726236531606</c:v>
                </c:pt>
                <c:pt idx="55" formatCode="0.00">
                  <c:v>2285.8291278640422</c:v>
                </c:pt>
                <c:pt idx="56" formatCode="0.00">
                  <c:v>2295.8441603073848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EC8-4488-87FC-D16D72B935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43239552"/>
        <c:axId val="1218401487"/>
      </c:lineChart>
      <c:catAx>
        <c:axId val="1043239552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8401487"/>
        <c:crosses val="autoZero"/>
        <c:auto val="1"/>
        <c:lblAlgn val="ctr"/>
        <c:lblOffset val="100"/>
        <c:noMultiLvlLbl val="0"/>
      </c:catAx>
      <c:valAx>
        <c:axId val="12184014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32395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Bike Rental Anomaly Detection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v>Normal</c:v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1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xVal>
            <c:numRef>
              <c:f>'Anomaly Detection '!$A$3:$A$47</c:f>
              <c:numCache>
                <c:formatCode>m/d/yyyy</c:formatCode>
                <c:ptCount val="45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</c:numCache>
            </c:numRef>
          </c:xVal>
          <c:yVal>
            <c:numRef>
              <c:f>'Anomaly Detection '!$E$3:$E$47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#N/A</c:v>
                </c:pt>
                <c:pt idx="26">
                  <c:v>#N/A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#N/A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CDE-4CDC-83B9-66D941AA9617}"/>
            </c:ext>
          </c:extLst>
        </c:ser>
        <c:ser>
          <c:idx val="1"/>
          <c:order val="1"/>
          <c:tx>
            <c:v>Low Anomaly</c:v>
          </c:tx>
          <c:spPr>
            <a:ln w="25400" cap="rnd">
              <a:noFill/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circle"/>
            <c:size val="6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 w="9525" cap="rnd">
                <a:solidFill>
                  <a:schemeClr val="accent2"/>
                </a:solidFill>
                <a:round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</c:marker>
          <c:xVal>
            <c:numRef>
              <c:f>'Anomaly Detection '!$A$3:$A$47</c:f>
              <c:numCache>
                <c:formatCode>m/d/yyyy</c:formatCode>
                <c:ptCount val="45"/>
                <c:pt idx="0">
                  <c:v>40544</c:v>
                </c:pt>
                <c:pt idx="1">
                  <c:v>40545</c:v>
                </c:pt>
                <c:pt idx="2">
                  <c:v>40546</c:v>
                </c:pt>
                <c:pt idx="3">
                  <c:v>40547</c:v>
                </c:pt>
                <c:pt idx="4">
                  <c:v>40548</c:v>
                </c:pt>
                <c:pt idx="5">
                  <c:v>40549</c:v>
                </c:pt>
                <c:pt idx="6">
                  <c:v>40550</c:v>
                </c:pt>
                <c:pt idx="7">
                  <c:v>40551</c:v>
                </c:pt>
                <c:pt idx="8">
                  <c:v>40552</c:v>
                </c:pt>
                <c:pt idx="9">
                  <c:v>40553</c:v>
                </c:pt>
                <c:pt idx="10">
                  <c:v>40554</c:v>
                </c:pt>
                <c:pt idx="11">
                  <c:v>40555</c:v>
                </c:pt>
                <c:pt idx="12">
                  <c:v>40556</c:v>
                </c:pt>
                <c:pt idx="13">
                  <c:v>40557</c:v>
                </c:pt>
                <c:pt idx="14">
                  <c:v>40558</c:v>
                </c:pt>
                <c:pt idx="15">
                  <c:v>40559</c:v>
                </c:pt>
                <c:pt idx="16">
                  <c:v>40560</c:v>
                </c:pt>
                <c:pt idx="17">
                  <c:v>40561</c:v>
                </c:pt>
                <c:pt idx="18">
                  <c:v>40562</c:v>
                </c:pt>
                <c:pt idx="19">
                  <c:v>40563</c:v>
                </c:pt>
                <c:pt idx="20">
                  <c:v>40564</c:v>
                </c:pt>
                <c:pt idx="21">
                  <c:v>40565</c:v>
                </c:pt>
                <c:pt idx="22">
                  <c:v>40566</c:v>
                </c:pt>
                <c:pt idx="23">
                  <c:v>40567</c:v>
                </c:pt>
                <c:pt idx="24">
                  <c:v>40568</c:v>
                </c:pt>
                <c:pt idx="25">
                  <c:v>40569</c:v>
                </c:pt>
                <c:pt idx="26">
                  <c:v>40570</c:v>
                </c:pt>
                <c:pt idx="27">
                  <c:v>40571</c:v>
                </c:pt>
                <c:pt idx="28">
                  <c:v>40572</c:v>
                </c:pt>
                <c:pt idx="29">
                  <c:v>40573</c:v>
                </c:pt>
                <c:pt idx="30">
                  <c:v>40574</c:v>
                </c:pt>
                <c:pt idx="31">
                  <c:v>40575</c:v>
                </c:pt>
                <c:pt idx="32">
                  <c:v>40576</c:v>
                </c:pt>
                <c:pt idx="33">
                  <c:v>40577</c:v>
                </c:pt>
                <c:pt idx="34">
                  <c:v>40578</c:v>
                </c:pt>
                <c:pt idx="35">
                  <c:v>40579</c:v>
                </c:pt>
                <c:pt idx="36">
                  <c:v>40580</c:v>
                </c:pt>
                <c:pt idx="37">
                  <c:v>40581</c:v>
                </c:pt>
                <c:pt idx="38">
                  <c:v>40582</c:v>
                </c:pt>
                <c:pt idx="39">
                  <c:v>40583</c:v>
                </c:pt>
                <c:pt idx="40">
                  <c:v>40584</c:v>
                </c:pt>
                <c:pt idx="41">
                  <c:v>40585</c:v>
                </c:pt>
                <c:pt idx="42">
                  <c:v>40586</c:v>
                </c:pt>
                <c:pt idx="43">
                  <c:v>40587</c:v>
                </c:pt>
                <c:pt idx="44">
                  <c:v>40588</c:v>
                </c:pt>
              </c:numCache>
            </c:numRef>
          </c:xVal>
          <c:yVal>
            <c:numRef>
              <c:f>'Anomaly Detection '!$F$3:$F$47</c:f>
              <c:numCache>
                <c:formatCode>General</c:formatCode>
                <c:ptCount val="4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506</c:v>
                </c:pt>
                <c:pt idx="26">
                  <c:v>431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151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CDE-4CDC-83B9-66D941AA96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09606736"/>
        <c:axId val="1481437232"/>
      </c:scatterChart>
      <c:valAx>
        <c:axId val="20096067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Date</a:t>
                </a:r>
              </a:p>
            </c:rich>
          </c:tx>
          <c:layout>
            <c:manualLayout>
              <c:xMode val="edge"/>
              <c:yMode val="edge"/>
              <c:x val="0.49792855366319766"/>
              <c:y val="0.8769895345360311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437232"/>
        <c:crosses val="autoZero"/>
        <c:crossBetween val="midCat"/>
      </c:valAx>
      <c:valAx>
        <c:axId val="1481437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Rentals</a:t>
                </a:r>
              </a:p>
            </c:rich>
          </c:tx>
          <c:layout>
            <c:manualLayout>
              <c:xMode val="edge"/>
              <c:yMode val="edge"/>
              <c:x val="1.5944192814253605E-2"/>
              <c:y val="0.2369504634705471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7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960673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48">
  <cs:axisTitle>
    <cs:lnRef idx="0"/>
    <cs:fillRef idx="0"/>
    <cs:effectRef idx="0"/>
    <cs:fontRef idx="minor">
      <a:schemeClr val="lt1">
        <a:lumMod val="7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</a:ln>
    </cs:spPr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9FD4EF-5067-416D-8686-1F5E8709198A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7E4E7-5EB4-476B-8229-CD3FCC01FD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35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D7E4E7-5EB4-476B-8229-CD3FCC01FD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46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9728" cy="5394960"/>
          </a:xfrm>
          <a:prstGeom prst="rect">
            <a:avLst/>
          </a:prstGeom>
          <a:solidFill>
            <a:srgbClr val="BEE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1143000"/>
            <a:ext cx="9875520" cy="15544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l">
              <a:spcAft>
                <a:spcPts val="80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BIKE SHARING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2743200"/>
            <a:ext cx="9784080" cy="91440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l">
              <a:spcAft>
                <a:spcPts val="800"/>
              </a:spcAft>
              <a:defRPr sz="2500" b="1">
                <a:solidFill>
                  <a:srgbClr val="BEE0FA"/>
                </a:solidFill>
                <a:latin typeface="Arial"/>
              </a:defRPr>
            </a:pPr>
            <a:r>
              <a:t>Internship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03320"/>
            <a:ext cx="9875520" cy="100584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FFFFFF"/>
                </a:solidFill>
                <a:latin typeface="Arial"/>
              </a:defRPr>
            </a:pPr>
            <a:r>
              <a:t>Data Preprocessing • Statistical Analysis • Dashboard •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029200"/>
            <a:ext cx="9601200" cy="585801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BEE0FA"/>
                </a:solidFill>
                <a:latin typeface="Arial"/>
              </a:defRPr>
            </a:pPr>
            <a:r>
              <a:rPr dirty="0"/>
              <a:t>Presented by: </a:t>
            </a:r>
            <a:r>
              <a:rPr lang="en-IN" dirty="0"/>
              <a:t>Shiva Saxena</a:t>
            </a:r>
            <a:endParaRPr dirty="0"/>
          </a:p>
          <a:p>
            <a:pPr algn="l">
              <a:spcAft>
                <a:spcPts val="800"/>
              </a:spcAft>
              <a:defRPr sz="1300" b="0">
                <a:solidFill>
                  <a:srgbClr val="BEE0FA"/>
                </a:solidFill>
                <a:latin typeface="Arial"/>
              </a:defRPr>
            </a:pPr>
            <a:r>
              <a:rPr dirty="0"/>
              <a:t>Internship Organization:</a:t>
            </a:r>
            <a:r>
              <a:rPr lang="en-IN" dirty="0"/>
              <a:t>Nexthikes IT Solutions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188720" y="6172200"/>
            <a:ext cx="9144000" cy="27432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FFFFFF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Internship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Project focus: analyze bike-sharing rental data and communicate useful patterns.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Internship learning areas: data cleaning, transformation, analysis, visualization and reporting.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Primary tools: Microsoft Excel, Power Query, PivotTables, charts and forecasting tools.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Outcome: a cleaned dataset, analytical findings, an interactive dashboard and a presentation-ready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Prepare a consistent dataset suitable for analysis.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Check data quality, missing values, duplicates and valid ranges.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Summarize rental activity using descriptive statistics and grouped analysis.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Explore relationships between rentals and weather-related variables.</a:t>
            </a:r>
          </a:p>
          <a:p>
            <a:pPr>
              <a:spcAft>
                <a:spcPts val="1500"/>
              </a:spcAft>
              <a:defRPr sz="1900">
                <a:solidFill>
                  <a:srgbClr val="1A2B3D"/>
                </a:solidFill>
                <a:latin typeface="Arial"/>
              </a:defRPr>
            </a:pPr>
            <a:r>
              <a:t>•  Build dashboard views and explore forecasting and anomaly identification.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Key Findings &amp; 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5553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4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The sample contains 58,304 rentals across 1,000 records.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Registered rentals (53,383) exceed casual rentals (4,921) in the analyzed sample.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Registered rentals are strongly associated with total rentals (correlation ≈ 0.990).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Temperature has a weak positive relationship with rentals (correlation ≈ 0.229).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Internship skills practiced: data preparation, quality checks, PivotTables, dashboarding, correlation, forecasting and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5553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5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2377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1,000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234440"/>
            <a:ext cx="2377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16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Columns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234440"/>
            <a:ext cx="2377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58,304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Total rentals (cnt)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234440"/>
            <a:ext cx="2377440" cy="1234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2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Rental user groups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718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Key identifier: instant; date field: dteday; target measure: cnt.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Other fields include season, year, month, hour, weekday, weather, temperature, humidity and windspeed.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t>•  Dataset used for this project contains 1,000 rows and 16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 Preparation &amp; Cleaning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5553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6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Used Power Query to transform and combine the provided dataset sections.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Aligned column names and data types before appending records.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Reviewed missing values, duplicate records and key-field consistency.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Checked ranges for fields such as hour, weekday, weather situation and rental counts.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Kept a repeatable preparation workflow to reduce manual copy-and-paste 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Data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5553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7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Record count after combining: 1,000 rows; 16 columns.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Identifier field: instant; expected sequence checked across the prepared data.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Reviewed blank values and duplicate records during validation.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Confirmed categorical fields use consistent values and numeric fields are suitable for analysis.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Data-quality checks are important because errors can distort summaries and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5553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8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2514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58,304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Total rentals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25880"/>
            <a:ext cx="2514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4,921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Casual rentals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514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53,383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Registered rentals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325880"/>
            <a:ext cx="2514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58.30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Average cnt /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Registered rentals make up the larger share of rentals in this sample.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t>•  KPIs provide a quick summary before exploring trends and relationships.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Descriptive Statistical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55533" y="6547104"/>
            <a:ext cx="24878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9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3E2F35-93B6-6466-A1A1-B2FAD0F2866E}"/>
              </a:ext>
            </a:extLst>
          </p:cNvPr>
          <p:cNvSpPr txBox="1"/>
          <p:nvPr/>
        </p:nvSpPr>
        <p:spPr>
          <a:xfrm>
            <a:off x="206829" y="849086"/>
            <a:ext cx="4920342" cy="4655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Calculated summary statistics such as mean, median, standard deviation, minimum and maximum.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Total rental count (</a:t>
            </a:r>
            <a:r>
              <a:rPr lang="en-US" dirty="0" err="1"/>
              <a:t>cnt</a:t>
            </a:r>
            <a:r>
              <a:rPr lang="en-US" dirty="0"/>
              <a:t>): mean ≈ 58.304; median = 49; standard deviation ≈ 50.986.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Temperature average ≈ 0.206; humidity average ≈ 0.582; windspeed average ≈ 0.195.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Descriptive statistics help explain typical values and the amount of variation in the dataset.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Note: temperature-related fields are normalized values, not degrees Celsius.</a:t>
            </a:r>
          </a:p>
          <a:p>
            <a:endParaRPr lang="en-US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C5568939-C809-E64C-5799-74A4A874E4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1724948"/>
              </p:ext>
            </p:extLst>
          </p:nvPr>
        </p:nvGraphicFramePr>
        <p:xfrm>
          <a:off x="5060405" y="982086"/>
          <a:ext cx="6415315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Correlation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766090"/>
            <a:ext cx="2834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0.990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Registered vs total rentals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788392"/>
            <a:ext cx="2834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rPr dirty="0"/>
              <a:t>0.229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rPr dirty="0"/>
              <a:t>Temperature vs rentals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766089"/>
            <a:ext cx="2834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E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2D6FB4"/>
                </a:solidFill>
                <a:latin typeface="Arial"/>
              </a:defRPr>
            </a:pPr>
            <a:r>
              <a:t>−0.025</a:t>
            </a:r>
          </a:p>
          <a:p>
            <a:pPr algn="ctr">
              <a:defRPr sz="1200">
                <a:solidFill>
                  <a:srgbClr val="4D6178"/>
                </a:solidFill>
                <a:latin typeface="Arial"/>
              </a:defRPr>
            </a:pPr>
            <a:r>
              <a:t>Humidity vs rentals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8028904-2752-92CA-555F-42D2C5A081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565211"/>
              </p:ext>
            </p:extLst>
          </p:nvPr>
        </p:nvGraphicFramePr>
        <p:xfrm>
          <a:off x="5464628" y="2253997"/>
          <a:ext cx="6422571" cy="4071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9E3E779-D92A-C2E1-3346-D2536B41CA15}"/>
              </a:ext>
            </a:extLst>
          </p:cNvPr>
          <p:cNvSpPr txBox="1"/>
          <p:nvPr/>
        </p:nvSpPr>
        <p:spPr>
          <a:xfrm>
            <a:off x="555171" y="2351314"/>
            <a:ext cx="4604961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Registered rentals have a very strong positive correlation with total rentals.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Temperature shows a weak positive correlation with total rentals in this sample.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Humidity has a correlation close to zero, indicating little linear association in this sample.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Correlation describes association and does not prove causation.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D924944-33FA-ED7C-C7A1-F17AECE009DF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6C0B02-B5EF-35D0-9765-2575D30FE4B7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500" b="1">
                <a:solidFill>
                  <a:srgbClr val="0E2345"/>
                </a:solidFill>
                <a:latin typeface="Arial"/>
              </a:defRPr>
            </a:pPr>
            <a:r>
              <a:rPr dirty="0"/>
              <a:t>Bike Rental Demand Forecast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BE444A-1154-D783-DA0E-16222B8FD809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39AA51-8874-AF7C-1892-CF48A5E284FB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500" b="1">
                <a:solidFill>
                  <a:srgbClr val="0E2345"/>
                </a:solidFill>
                <a:latin typeface="Arial"/>
              </a:defRPr>
            </a:pPr>
            <a:r>
              <a:rPr lang="en-IN" dirty="0">
                <a:solidFill>
                  <a:schemeClr val="bg1"/>
                </a:solidFill>
              </a:rPr>
              <a:t>Rental by Season</a:t>
            </a:r>
            <a:endParaRPr dirty="0">
              <a:solidFill>
                <a:schemeClr val="bg1"/>
              </a:solidFill>
            </a:endParaRP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459BD70B-D361-2C0A-9F1D-7A1D594A26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0001243"/>
              </p:ext>
            </p:extLst>
          </p:nvPr>
        </p:nvGraphicFramePr>
        <p:xfrm>
          <a:off x="5748016" y="831667"/>
          <a:ext cx="6069512" cy="490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03C4D694-2A4D-B496-26CE-FD04F7AE9ED1}"/>
              </a:ext>
            </a:extLst>
          </p:cNvPr>
          <p:cNvSpPr txBox="1"/>
          <p:nvPr/>
        </p:nvSpPr>
        <p:spPr>
          <a:xfrm>
            <a:off x="228600" y="831667"/>
            <a:ext cx="523602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D"/>
                </a:solidFill>
                <a:latin typeface="Arial"/>
              </a:rPr>
              <a:t>Season 1 has the largest rental total in this analyzed sample.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2B3D"/>
                </a:solidFill>
                <a:latin typeface="Arial"/>
              </a:rPr>
              <a:t>These totals describe the project sample; they should not be generalized to a full-year population without additional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957CD5-5059-CC06-058D-84B0D0386A18}"/>
              </a:ext>
            </a:extLst>
          </p:cNvPr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A43120-8EEB-32EC-FC8F-877DDB804EC7}"/>
              </a:ext>
            </a:extLst>
          </p:cNvPr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62B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BFE908-49EB-8A15-D4C3-E9DC484B0530}"/>
              </a:ext>
            </a:extLst>
          </p:cNvPr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939267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831DC6F-4E43-F9E0-CE4F-AC7849E7C1B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3CB3A-BE1B-5DBD-60A9-9EAD93E80821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500" b="1">
                <a:solidFill>
                  <a:srgbClr val="0E2345"/>
                </a:solidFill>
                <a:latin typeface="Arial"/>
              </a:defRPr>
            </a:pPr>
            <a:r>
              <a:t>Interactive Dashboard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38C398-9432-A8F3-BAED-E71E9D0B0D1F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E0AA42-DEFD-1CD6-829D-9FAE7C2C824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713ED3-5E3A-E8CC-CC47-1FE24702AC84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500" b="1">
                <a:solidFill>
                  <a:srgbClr val="0E2345"/>
                </a:solidFill>
                <a:latin typeface="Arial"/>
              </a:defRPr>
            </a:pPr>
            <a:r>
              <a:rPr lang="en-IN" dirty="0">
                <a:solidFill>
                  <a:schemeClr val="bg1"/>
                </a:solidFill>
              </a:rPr>
              <a:t>Weekdday &amp; Holiday Analysis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5EE3E1-3AD8-726B-A203-5BEF5F05799A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3F75DD36-72FC-EF30-DC8C-327E86133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8271462"/>
              </p:ext>
            </p:extLst>
          </p:nvPr>
        </p:nvGraphicFramePr>
        <p:xfrm>
          <a:off x="4898571" y="849085"/>
          <a:ext cx="6727371" cy="48429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F9EF1529-32B9-CA0D-216E-982E0D511F5B}"/>
              </a:ext>
            </a:extLst>
          </p:cNvPr>
          <p:cNvSpPr/>
          <p:nvPr/>
        </p:nvSpPr>
        <p:spPr>
          <a:xfrm>
            <a:off x="566058" y="966651"/>
            <a:ext cx="320040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ADD5D2-1F4F-F0DC-2A2F-C019A7B95940}"/>
              </a:ext>
            </a:extLst>
          </p:cNvPr>
          <p:cNvSpPr txBox="1"/>
          <p:nvPr/>
        </p:nvSpPr>
        <p:spPr>
          <a:xfrm>
            <a:off x="748937" y="1103811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463A0"/>
                </a:solidFill>
              </a:defRPr>
            </a:pPr>
            <a:r>
              <a:rPr dirty="0"/>
              <a:t>HIGHEST IN SAMPLE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09EABF-56BA-2A40-04CD-9F639BB3D806}"/>
              </a:ext>
            </a:extLst>
          </p:cNvPr>
          <p:cNvSpPr txBox="1"/>
          <p:nvPr/>
        </p:nvSpPr>
        <p:spPr>
          <a:xfrm>
            <a:off x="748937" y="1442139"/>
            <a:ext cx="167385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3741"/>
                </a:solidFill>
              </a:defRPr>
            </a:pPr>
            <a:r>
              <a:rPr sz="1200" dirty="0"/>
              <a:t>Friday = 9,095 rentals</a:t>
            </a:r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B9477159-A09D-11CB-621E-312F59815932}"/>
              </a:ext>
            </a:extLst>
          </p:cNvPr>
          <p:cNvSpPr/>
          <p:nvPr/>
        </p:nvSpPr>
        <p:spPr>
          <a:xfrm>
            <a:off x="566058" y="2292531"/>
            <a:ext cx="32004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02BE73A-2AF9-4CBE-F969-3B38E40A47B5}"/>
              </a:ext>
            </a:extLst>
          </p:cNvPr>
          <p:cNvSpPr txBox="1"/>
          <p:nvPr/>
        </p:nvSpPr>
        <p:spPr>
          <a:xfrm>
            <a:off x="748937" y="2429691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8F91"/>
                </a:solidFill>
              </a:defRPr>
            </a:pPr>
            <a:r>
              <a:t>HOLIDAY FIELD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F3A890-71FB-2A22-E859-4AAEDAED1AA3}"/>
              </a:ext>
            </a:extLst>
          </p:cNvPr>
          <p:cNvSpPr txBox="1"/>
          <p:nvPr/>
        </p:nvSpPr>
        <p:spPr>
          <a:xfrm>
            <a:off x="748937" y="2768019"/>
            <a:ext cx="3017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741"/>
                </a:solidFill>
              </a:defRPr>
            </a:pPr>
            <a:r>
              <a:rPr sz="1200" dirty="0"/>
              <a:t>holiday is represented as a binary indicator in the final analytical dataset.</a:t>
            </a:r>
          </a:p>
        </p:txBody>
      </p:sp>
      <p:sp>
        <p:nvSpPr>
          <p:cNvPr id="39" name="Rounded Rectangle 10">
            <a:extLst>
              <a:ext uri="{FF2B5EF4-FFF2-40B4-BE49-F238E27FC236}">
                <a16:creationId xmlns:a16="http://schemas.microsoft.com/office/drawing/2014/main" id="{E352F238-9E3F-57DB-7A49-24DD9E23838B}"/>
              </a:ext>
            </a:extLst>
          </p:cNvPr>
          <p:cNvSpPr/>
          <p:nvPr/>
        </p:nvSpPr>
        <p:spPr>
          <a:xfrm>
            <a:off x="566058" y="3801291"/>
            <a:ext cx="3200400" cy="11887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2D2DBEA-D722-56F8-FD51-1C5B218552B1}"/>
              </a:ext>
            </a:extLst>
          </p:cNvPr>
          <p:cNvSpPr txBox="1"/>
          <p:nvPr/>
        </p:nvSpPr>
        <p:spPr>
          <a:xfrm>
            <a:off x="748936" y="4276779"/>
            <a:ext cx="30175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D3741"/>
                </a:solidFill>
              </a:defRPr>
            </a:pPr>
            <a:r>
              <a:rPr sz="1200" dirty="0"/>
              <a:t>Calendar effects can be combined with hour and weather variables for more detailed demand analysis.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2E1E01-1DAF-3CF8-9581-F31BE2EFE57F}"/>
              </a:ext>
            </a:extLst>
          </p:cNvPr>
          <p:cNvSpPr txBox="1"/>
          <p:nvPr/>
        </p:nvSpPr>
        <p:spPr>
          <a:xfrm>
            <a:off x="748937" y="3938451"/>
            <a:ext cx="2834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E822D"/>
                </a:solidFill>
              </a:defRPr>
            </a:pPr>
            <a:r>
              <a:rPr dirty="0"/>
              <a:t>USE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45702E-8E51-AA8F-5167-A46354BA5191}"/>
              </a:ext>
            </a:extLst>
          </p:cNvPr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1F9B89D-D1AF-EEEF-D2B6-A2F6CE05A66C}"/>
              </a:ext>
            </a:extLst>
          </p:cNvPr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62B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0656821-9706-DF59-0098-87A7AD75CB5B}"/>
              </a:ext>
            </a:extLst>
          </p:cNvPr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410738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58E874-F537-68CA-B323-AB669FE9F7A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205C1-832A-241F-88FD-38910B78A569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500" b="1">
                <a:solidFill>
                  <a:srgbClr val="0E2345"/>
                </a:solidFill>
                <a:latin typeface="Arial"/>
              </a:defRPr>
            </a:pPr>
            <a:r>
              <a:rPr lang="en-IN" dirty="0">
                <a:solidFill>
                  <a:schemeClr val="bg1"/>
                </a:solidFill>
              </a:rPr>
              <a:t>Overall Rental Summary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F0BA17-F4FB-E605-E051-5E3C7A87B33A}"/>
              </a:ext>
            </a:extLst>
          </p:cNvPr>
          <p:cNvSpPr txBox="1"/>
          <p:nvPr/>
        </p:nvSpPr>
        <p:spPr>
          <a:xfrm>
            <a:off x="11247120" y="6547104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B131BB-5D0E-9FEC-32D4-08C4799ED3D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4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C0951AE5-103C-2D4E-1A49-B5008B9D61AC}"/>
              </a:ext>
            </a:extLst>
          </p:cNvPr>
          <p:cNvSpPr/>
          <p:nvPr/>
        </p:nvSpPr>
        <p:spPr>
          <a:xfrm>
            <a:off x="731520" y="128016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4E5A4F-DD1A-414E-9D80-92D3EFEC83C5}"/>
              </a:ext>
            </a:extLst>
          </p:cNvPr>
          <p:cNvSpPr txBox="1"/>
          <p:nvPr/>
        </p:nvSpPr>
        <p:spPr>
          <a:xfrm>
            <a:off x="960120" y="148132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B46"/>
                </a:solidFill>
                <a:latin typeface="Aptos Display"/>
              </a:defRPr>
            </a:pPr>
            <a:r>
              <a:t>58,304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993067-FBF7-F389-FF1B-902D3E9A9C68}"/>
              </a:ext>
            </a:extLst>
          </p:cNvPr>
          <p:cNvSpPr txBox="1"/>
          <p:nvPr/>
        </p:nvSpPr>
        <p:spPr>
          <a:xfrm>
            <a:off x="960120" y="2057400"/>
            <a:ext cx="99623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7D"/>
                </a:solidFill>
                <a:latin typeface="Aptos"/>
              </a:defRPr>
            </a:pPr>
            <a:r>
              <a:rPr sz="1200" dirty="0"/>
              <a:t>Total rentals</a:t>
            </a:r>
          </a:p>
        </p:txBody>
      </p:sp>
      <p:sp>
        <p:nvSpPr>
          <p:cNvPr id="19" name="Rounded Rectangle 7">
            <a:extLst>
              <a:ext uri="{FF2B5EF4-FFF2-40B4-BE49-F238E27FC236}">
                <a16:creationId xmlns:a16="http://schemas.microsoft.com/office/drawing/2014/main" id="{905F7955-BAF4-8BC0-6D7E-C9CCB49D3115}"/>
              </a:ext>
            </a:extLst>
          </p:cNvPr>
          <p:cNvSpPr/>
          <p:nvPr/>
        </p:nvSpPr>
        <p:spPr>
          <a:xfrm>
            <a:off x="4297680" y="128016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EF2193-9A68-0B02-7CAC-8011B3B60A50}"/>
              </a:ext>
            </a:extLst>
          </p:cNvPr>
          <p:cNvSpPr txBox="1"/>
          <p:nvPr/>
        </p:nvSpPr>
        <p:spPr>
          <a:xfrm>
            <a:off x="4526280" y="1481328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B46"/>
                </a:solidFill>
                <a:latin typeface="Aptos Display"/>
              </a:defRPr>
            </a:pPr>
            <a:r>
              <a:t>53,383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892C603-7303-9E4D-689F-B4DB402A6E4D}"/>
              </a:ext>
            </a:extLst>
          </p:cNvPr>
          <p:cNvSpPr txBox="1"/>
          <p:nvPr/>
        </p:nvSpPr>
        <p:spPr>
          <a:xfrm>
            <a:off x="4526280" y="2057400"/>
            <a:ext cx="138845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7D"/>
                </a:solidFill>
                <a:latin typeface="Aptos"/>
              </a:defRPr>
            </a:pPr>
            <a:r>
              <a:rPr sz="1200" dirty="0"/>
              <a:t>Registered rentals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DEFBED23-6AF3-C326-237E-A0AC94E41627}"/>
              </a:ext>
            </a:extLst>
          </p:cNvPr>
          <p:cNvSpPr/>
          <p:nvPr/>
        </p:nvSpPr>
        <p:spPr>
          <a:xfrm>
            <a:off x="7863840" y="1280160"/>
            <a:ext cx="3291840" cy="141732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E77AB4-0D60-1645-67D5-E2FB55E3BC7D}"/>
              </a:ext>
            </a:extLst>
          </p:cNvPr>
          <p:cNvSpPr txBox="1"/>
          <p:nvPr/>
        </p:nvSpPr>
        <p:spPr>
          <a:xfrm>
            <a:off x="8092440" y="1481328"/>
            <a:ext cx="2926080" cy="5029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B46"/>
                </a:solidFill>
                <a:latin typeface="Aptos Display"/>
              </a:defRPr>
            </a:pPr>
            <a:r>
              <a:t>4,921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D78ABD-1459-2361-6E99-B3844860DC7F}"/>
              </a:ext>
            </a:extLst>
          </p:cNvPr>
          <p:cNvSpPr txBox="1"/>
          <p:nvPr/>
        </p:nvSpPr>
        <p:spPr>
          <a:xfrm>
            <a:off x="8092440" y="2057400"/>
            <a:ext cx="115018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37D"/>
                </a:solidFill>
                <a:latin typeface="Aptos"/>
              </a:defRPr>
            </a:pPr>
            <a:r>
              <a:rPr sz="1200" dirty="0"/>
              <a:t>Casual rentals</a:t>
            </a:r>
          </a:p>
        </p:txBody>
      </p:sp>
      <p:sp>
        <p:nvSpPr>
          <p:cNvPr id="31" name="Rounded Rectangle 16">
            <a:extLst>
              <a:ext uri="{FF2B5EF4-FFF2-40B4-BE49-F238E27FC236}">
                <a16:creationId xmlns:a16="http://schemas.microsoft.com/office/drawing/2014/main" id="{38E15547-EE44-A24E-E96D-6CE743F0EC3A}"/>
              </a:ext>
            </a:extLst>
          </p:cNvPr>
          <p:cNvSpPr/>
          <p:nvPr/>
        </p:nvSpPr>
        <p:spPr>
          <a:xfrm>
            <a:off x="5603964" y="3429000"/>
            <a:ext cx="5556497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CE6E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92C6D8-C1B2-408E-D934-B58EE3603A4A}"/>
              </a:ext>
            </a:extLst>
          </p:cNvPr>
          <p:cNvSpPr txBox="1"/>
          <p:nvPr/>
        </p:nvSpPr>
        <p:spPr>
          <a:xfrm>
            <a:off x="5590903" y="3566160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68F91"/>
                </a:solidFill>
              </a:defRPr>
            </a:pPr>
            <a:r>
              <a:rPr dirty="0"/>
              <a:t>CUSTOMER MIX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69957E-A7FA-F626-1B94-99DFCEF17719}"/>
              </a:ext>
            </a:extLst>
          </p:cNvPr>
          <p:cNvSpPr txBox="1"/>
          <p:nvPr/>
        </p:nvSpPr>
        <p:spPr>
          <a:xfrm>
            <a:off x="5558246" y="3904487"/>
            <a:ext cx="563487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D3741"/>
                </a:solidFill>
              </a:defRPr>
            </a:pPr>
            <a:r>
              <a:rPr sz="1200" dirty="0"/>
              <a:t>Registered riders contribute the large majority of recorded rentals in this sample.</a:t>
            </a:r>
          </a:p>
        </p:txBody>
      </p:sp>
      <p:graphicFrame>
        <p:nvGraphicFramePr>
          <p:cNvPr id="37" name="Chart 36">
            <a:extLst>
              <a:ext uri="{FF2B5EF4-FFF2-40B4-BE49-F238E27FC236}">
                <a16:creationId xmlns:a16="http://schemas.microsoft.com/office/drawing/2014/main" id="{8C386520-40BB-180C-1425-442D64B275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0792629"/>
              </p:ext>
            </p:extLst>
          </p:nvPr>
        </p:nvGraphicFramePr>
        <p:xfrm>
          <a:off x="960121" y="3154680"/>
          <a:ext cx="4079966" cy="2636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7FABD801-633D-F3CC-A868-A0DF21968014}"/>
              </a:ext>
            </a:extLst>
          </p:cNvPr>
          <p:cNvSpPr txBox="1"/>
          <p:nvPr/>
        </p:nvSpPr>
        <p:spPr>
          <a:xfrm>
            <a:off x="1139141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13</a:t>
            </a:r>
            <a:endParaRPr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CDFD95-ECC7-6008-2197-88A9975BBA23}"/>
              </a:ext>
            </a:extLst>
          </p:cNvPr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62B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598D22-D6EB-E66C-4D8F-5CAA1ED8216E}"/>
              </a:ext>
            </a:extLst>
          </p:cNvPr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437400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886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Interactive 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849D7D-4374-7823-FECF-E7BFEB762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6287" y="729344"/>
            <a:ext cx="7053638" cy="56897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29EED4C-1758-CAF6-8123-85527DAE1852}"/>
              </a:ext>
            </a:extLst>
          </p:cNvPr>
          <p:cNvSpPr txBox="1"/>
          <p:nvPr/>
        </p:nvSpPr>
        <p:spPr>
          <a:xfrm>
            <a:off x="185057" y="914400"/>
            <a:ext cx="5007429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Designed KPI Cards to display Total Rentals, Average Rentals, Casual Users and Registered Users. 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Used charts to analyze rentals by hour, weather, weekday, season, customer type and temperature.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Added slicers and date filters to explore rental patterns across weekday, weather, season and holiday categories.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Enabled interactive filtering and comparison of bike rental trends across different categories.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E27C6D-7C72-3D23-301F-212BBC0A33D5}"/>
              </a:ext>
            </a:extLst>
          </p:cNvPr>
          <p:cNvSpPr txBox="1"/>
          <p:nvPr/>
        </p:nvSpPr>
        <p:spPr>
          <a:xfrm>
            <a:off x="10571231" y="6601534"/>
            <a:ext cx="10873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14</a:t>
            </a: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982668-18F1-87C8-0575-7CBDA347B375}"/>
              </a:ext>
            </a:extLst>
          </p:cNvPr>
          <p:cNvSpPr/>
          <p:nvPr/>
        </p:nvSpPr>
        <p:spPr>
          <a:xfrm>
            <a:off x="502920" y="6528382"/>
            <a:ext cx="11155680" cy="22860"/>
          </a:xfrm>
          <a:prstGeom prst="rect">
            <a:avLst/>
          </a:prstGeom>
          <a:solidFill>
            <a:srgbClr val="62B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E478FD-9021-9F73-B715-A1AFD57A0A20}"/>
              </a:ext>
            </a:extLst>
          </p:cNvPr>
          <p:cNvSpPr txBox="1"/>
          <p:nvPr/>
        </p:nvSpPr>
        <p:spPr>
          <a:xfrm>
            <a:off x="530352" y="656495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Bike Rental Demand Forecast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8D47F8-3CF6-4478-B9CA-BF04F90E44A0}"/>
              </a:ext>
            </a:extLst>
          </p:cNvPr>
          <p:cNvSpPr txBox="1"/>
          <p:nvPr/>
        </p:nvSpPr>
        <p:spPr>
          <a:xfrm>
            <a:off x="185057" y="783771"/>
            <a:ext cx="5225143" cy="31624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Used Excel’s forecasting workflow to explore future rental demand from the date series.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Forecast visuals can show actual values, forecast values and confidence bounds.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Interpret the forecast as an estimate, not a guarantee of future demand.</a:t>
            </a:r>
          </a:p>
          <a:p>
            <a:pPr>
              <a:spcAft>
                <a:spcPts val="1500"/>
              </a:spcAft>
              <a:defRPr sz="18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Before presenting, verify that the forecast chart uses the intended date range and correct rental-count field.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0C04858-8F43-3924-779B-3E19EA378D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917286"/>
              </p:ext>
            </p:extLst>
          </p:nvPr>
        </p:nvGraphicFramePr>
        <p:xfrm>
          <a:off x="5399313" y="743086"/>
          <a:ext cx="6685333" cy="5408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B41B94A9-AF4F-549C-558E-FC5A6AE6416E}"/>
              </a:ext>
            </a:extLst>
          </p:cNvPr>
          <p:cNvSpPr txBox="1"/>
          <p:nvPr/>
        </p:nvSpPr>
        <p:spPr>
          <a:xfrm>
            <a:off x="1139141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dirty="0"/>
              <a:t>1</a:t>
            </a:r>
            <a:r>
              <a:rPr lang="en-IN" dirty="0"/>
              <a:t>5</a:t>
            </a:r>
            <a:endParaRPr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EF25272-00A0-630C-738A-61D4AC72ECBF}"/>
              </a:ext>
            </a:extLst>
          </p:cNvPr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62B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5DD69B-338F-960A-928F-D7799E61F951}"/>
              </a:ext>
            </a:extLst>
          </p:cNvPr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94657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Created an anomaly review sheet with Date, Total Rentals, category and explanatory comment.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Used a scatter chart to distinguish Normal records from Low anomaly records.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Added comments to explain the classification and the relevant bounds to a reviewer.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An anomaly flag is a prompt for investigation; it should not automatically be treated as an error.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lang="en-US" dirty="0"/>
              <a:t>•  Confirm the final thresholds and counts against the latest version of the workbook before presenting.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E490CF1-1766-451F-A896-CAB726D79D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733234"/>
              </p:ext>
            </p:extLst>
          </p:nvPr>
        </p:nvGraphicFramePr>
        <p:xfrm>
          <a:off x="778992" y="3097911"/>
          <a:ext cx="9823693" cy="32484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7EA062F-6045-0D87-24F2-78AF22431A4A}"/>
              </a:ext>
            </a:extLst>
          </p:cNvPr>
          <p:cNvSpPr txBox="1"/>
          <p:nvPr/>
        </p:nvSpPr>
        <p:spPr>
          <a:xfrm>
            <a:off x="1139141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dirty="0"/>
              <a:t>1</a:t>
            </a:r>
            <a:r>
              <a:rPr lang="en-IN" dirty="0"/>
              <a:t>6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3F2DAA-72E3-EF66-4ACF-CA659E3CD7C3}"/>
              </a:ext>
            </a:extLst>
          </p:cNvPr>
          <p:cNvSpPr/>
          <p:nvPr/>
        </p:nvSpPr>
        <p:spPr>
          <a:xfrm>
            <a:off x="502920" y="6473952"/>
            <a:ext cx="11155680" cy="22860"/>
          </a:xfrm>
          <a:prstGeom prst="rect">
            <a:avLst/>
          </a:prstGeom>
          <a:solidFill>
            <a:srgbClr val="62B1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6015E-1793-5BE8-7774-51D284F64001}"/>
              </a:ext>
            </a:extLst>
          </p:cNvPr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E0412AC1-DB16-6082-0DD3-3D6B99CF32B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6625F32-42F9-4003-6B56-6D346A42C737}"/>
              </a:ext>
            </a:extLst>
          </p:cNvPr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500" b="1">
                <a:solidFill>
                  <a:srgbClr val="0E2345"/>
                </a:solidFill>
                <a:latin typeface="Arial"/>
              </a:defRPr>
            </a:pPr>
            <a:r>
              <a:rPr lang="en-US" dirty="0">
                <a:solidFill>
                  <a:schemeClr val="bg1"/>
                </a:solidFill>
              </a:rPr>
              <a:t>Limitations &amp; Recommendations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D79BBB1-EB62-008F-479F-7EEF351E7CD3}"/>
              </a:ext>
            </a:extLst>
          </p:cNvPr>
          <p:cNvSpPr/>
          <p:nvPr/>
        </p:nvSpPr>
        <p:spPr>
          <a:xfrm>
            <a:off x="411480" y="6510528"/>
            <a:ext cx="11338560" cy="32004"/>
          </a:xfrm>
          <a:prstGeom prst="rect">
            <a:avLst/>
          </a:prstGeom>
          <a:solidFill>
            <a:srgbClr val="2D6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FA9524-B6AB-FA55-F097-0956E504D422}"/>
              </a:ext>
            </a:extLst>
          </p:cNvPr>
          <p:cNvSpPr txBox="1"/>
          <p:nvPr/>
        </p:nvSpPr>
        <p:spPr>
          <a:xfrm>
            <a:off x="11391413" y="6547104"/>
            <a:ext cx="312907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D6178"/>
                </a:solidFill>
                <a:latin typeface="Arial"/>
              </a:defRPr>
            </a:pPr>
            <a:r>
              <a:rPr lang="en-IN" dirty="0"/>
              <a:t>17</a:t>
            </a:r>
            <a:endParaRPr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813582-7370-19E3-D5E8-37C11E10752F}"/>
              </a:ext>
            </a:extLst>
          </p:cNvPr>
          <p:cNvSpPr txBox="1"/>
          <p:nvPr/>
        </p:nvSpPr>
        <p:spPr>
          <a:xfrm>
            <a:off x="73152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dirty="0"/>
              <a:t>•  The analyzed dataset is a 1,000-record sample, so findings may not represent every season or location.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dirty="0"/>
              <a:t>•  Some chart interpretations depend on category-level PivotTable values; verify exact figures before external presentation.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dirty="0"/>
              <a:t>•  Use more historical data and validate forecasts against later observations.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dirty="0"/>
              <a:t>•  Document cleaning rules and anomaly thresholds so the workflow can be repeated.</a:t>
            </a:r>
          </a:p>
          <a:p>
            <a:pPr>
              <a:spcAft>
                <a:spcPts val="1500"/>
              </a:spcAft>
              <a:defRPr sz="1700">
                <a:solidFill>
                  <a:srgbClr val="1A2B3D"/>
                </a:solidFill>
                <a:latin typeface="Arial"/>
              </a:defRPr>
            </a:pPr>
            <a:r>
              <a:rPr dirty="0"/>
              <a:t>•  Recommended next step: refresh the dashboard with new data and compare trends over time.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BA93C3-BEBB-3EA3-7A50-DFB98F818F60}"/>
              </a:ext>
            </a:extLst>
          </p:cNvPr>
          <p:cNvSpPr txBox="1"/>
          <p:nvPr/>
        </p:nvSpPr>
        <p:spPr>
          <a:xfrm>
            <a:off x="530352" y="6510528"/>
            <a:ext cx="8686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64748B"/>
                </a:solidFill>
                <a:latin typeface="Arial"/>
              </a:defRPr>
            </a:pPr>
            <a:r>
              <a:t>BIKE SHARING DATA ANALYSIS  •  INTERNSHIP PROJECT</a:t>
            </a:r>
          </a:p>
        </p:txBody>
      </p:sp>
    </p:spTree>
    <p:extLst>
      <p:ext uri="{BB962C8B-B14F-4D97-AF65-F5344CB8AC3E}">
        <p14:creationId xmlns:p14="http://schemas.microsoft.com/office/powerpoint/2010/main" val="33962763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1143000"/>
            <a:ext cx="10241280" cy="91440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ctr">
              <a:spcAft>
                <a:spcPts val="8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418320" cy="20116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ctr">
              <a:spcAft>
                <a:spcPts val="800"/>
              </a:spcAft>
              <a:defRPr sz="2100" b="0">
                <a:solidFill>
                  <a:srgbClr val="BEE0FA"/>
                </a:solidFill>
                <a:latin typeface="Arial"/>
              </a:defRPr>
            </a:pPr>
            <a:r>
              <a:t>This internship project demonstrates an end-to-end analytics workflow—from data preparation and validation to statistical analysis, dashboard visualization, forecasting and anomaly review.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92040"/>
            <a:ext cx="8503920" cy="640080"/>
          </a:xfrm>
          <a:prstGeom prst="rect">
            <a:avLst/>
          </a:prstGeom>
          <a:noFill/>
        </p:spPr>
        <p:txBody>
          <a:bodyPr wrap="square" lIns="54864" tIns="36576" rIns="54864">
            <a:spAutoFit/>
          </a:bodyPr>
          <a:lstStyle/>
          <a:p>
            <a:pPr algn="ctr">
              <a:spcAft>
                <a:spcPts val="800"/>
              </a:spcAft>
              <a:defRPr sz="27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1160</Words>
  <Application>Microsoft Office PowerPoint</Application>
  <PresentationFormat>Widescreen</PresentationFormat>
  <Paragraphs>149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shiva saxena</cp:lastModifiedBy>
  <cp:revision>5</cp:revision>
  <dcterms:created xsi:type="dcterms:W3CDTF">2013-01-27T09:14:16Z</dcterms:created>
  <dcterms:modified xsi:type="dcterms:W3CDTF">2026-10-10T10:55:28Z</dcterms:modified>
  <cp:category/>
</cp:coreProperties>
</file>